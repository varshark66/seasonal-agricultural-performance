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48" r:id="rId10"/>
    <p:sldId id="349" r:id="rId11"/>
    <p:sldId id="344" r:id="rId12"/>
    <p:sldId id="350" r:id="rId13"/>
    <p:sldId id="340" r:id="rId14"/>
    <p:sldId id="345" r:id="rId15"/>
    <p:sldId id="346" r:id="rId16"/>
    <p:sldId id="341" r:id="rId17"/>
    <p:sldId id="342" r:id="rId18"/>
    <p:sldId id="34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89" d="100"/>
          <a:sy n="89" d="100"/>
        </p:scale>
        <p:origin x="370" y="-5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690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92770" y="1308101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13466"/>
                </a:solidFill>
                <a:latin typeface="Aptos"/>
              </a:rPr>
              <a:t>Seasonal Agriculture
Performance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92770" y="23545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78BE"/>
                </a:solidFill>
                <a:latin typeface="Aptos"/>
              </a:rPr>
              <a:t>Major Project – Data Visualization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108960"/>
            <a:ext cx="4572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32323"/>
                </a:solidFill>
                <a:latin typeface="Aptos"/>
              </a:rPr>
              <a:t>Student: Varsha R K</a:t>
            </a:r>
            <a:endParaRPr lang="en-IN" sz="1700" b="1" dirty="0">
              <a:solidFill>
                <a:srgbClr val="232323"/>
              </a:solidFill>
              <a:latin typeface="Aptos"/>
            </a:endParaRPr>
          </a:p>
          <a:p>
            <a:pPr algn="l"/>
            <a:r>
              <a:rPr lang="en-IN" sz="1700" b="1" dirty="0">
                <a:solidFill>
                  <a:srgbClr val="232323"/>
                </a:solidFill>
                <a:latin typeface="Aptos"/>
              </a:rPr>
              <a:t>BHARATHIDASAN UNIVERSITY</a:t>
            </a:r>
          </a:p>
          <a:p>
            <a:pPr algn="l"/>
            <a:r>
              <a:rPr lang="en-IN" sz="1700" b="1" dirty="0">
                <a:solidFill>
                  <a:srgbClr val="232323"/>
                </a:solidFill>
                <a:latin typeface="Aptos"/>
              </a:rPr>
              <a:t> </a:t>
            </a:r>
          </a:p>
          <a:p>
            <a:pPr algn="l"/>
            <a:endParaRPr lang="en-IN" sz="1700" b="1" dirty="0">
              <a:solidFill>
                <a:srgbClr val="232323"/>
              </a:solidFill>
              <a:latin typeface="Aptos"/>
            </a:endParaRPr>
          </a:p>
          <a:p>
            <a:r>
              <a:rPr lang="en-US" sz="1600" b="1" dirty="0"/>
              <a:t>AICTE STU ID </a:t>
            </a:r>
            <a:r>
              <a:rPr lang="en-IN" b="1" dirty="0"/>
              <a:t>STU676ff5cfac83b1735390671</a:t>
            </a:r>
            <a:endParaRPr sz="1700" b="1" dirty="0">
              <a:solidFill>
                <a:srgbClr val="23232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957" y="114300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232323"/>
                </a:solidFill>
                <a:latin typeface="Aptos"/>
              </a:rPr>
              <a:t>Agricultural performance is influenced by seasonal environmental conditions, farming practices, resource availability and market conditions. This project analyzes the provided agricultural dataset to identify seasonal patterns, trends, relationships and variations.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038" y="23672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Understand variations in agricultural performance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Identify important seasonal trends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Compare performance across different periods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Examine resource and environmental differences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Support evidence-based agricultural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1044" y="2656514"/>
            <a:ext cx="2834640" cy="32004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1044" y="288656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113466"/>
                </a:solidFill>
                <a:latin typeface="Aptos"/>
              </a:rPr>
              <a:t>Project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9397" y="3323278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232323"/>
                </a:solidFill>
                <a:latin typeface="Aptos"/>
              </a:rPr>
              <a:t>Seasonal comparison
Performance trends
Resource usage
Environmental conditions
Economic outcomes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1798" y="563047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113466"/>
                </a:solidFill>
                <a:latin typeface="Aptos"/>
              </a:rPr>
              <a:t>PROJECT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972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32323"/>
                </a:solidFill>
                <a:latin typeface="Aptos"/>
              </a:rPr>
              <a:t>A focused real-world data analytics project that explores how agricultural performance changes across seasons.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Explore and understand the dataset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Clean and prepare data for analysis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Analyze seasonal differences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Compare relevant crops, regions or categories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Investigate relationships between conditions and outcomes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Develop evidence-based conclusions and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554480"/>
            <a:ext cx="3291840" cy="36576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18288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78BE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Data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45059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78BE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50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32323"/>
                </a:solidFill>
                <a:latin typeface="Aptos"/>
              </a:rPr>
              <a:t>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07238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78BE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723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941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78BE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6941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31596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78BE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Aptos"/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WHO ARE THE END USERS?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325880"/>
            <a:ext cx="425196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15270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3466"/>
                </a:solidFill>
                <a:latin typeface="Aptos"/>
              </a:rPr>
              <a:t>Farmers &amp; 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965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Understand seasonal performance and resource variation.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325880"/>
            <a:ext cx="425196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15270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3466"/>
                </a:solidFill>
                <a:latin typeface="Aptos"/>
              </a:rPr>
              <a:t>Agricultural Planners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65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Use seasonal trends for planning and comparison.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83280"/>
            <a:ext cx="425196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5844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3466"/>
                </a:solidFill>
                <a:latin typeface="Aptos"/>
              </a:rPr>
              <a:t>Researchers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Study environmental and agricultural relationships.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383280"/>
            <a:ext cx="425196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0" y="35844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3466"/>
                </a:solidFill>
                <a:latin typeface="Aptos"/>
              </a:rPr>
              <a:t>Students &amp; Data Analysts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0233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Practice cleaning, EDA, visualization and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TECHNOLOGY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28016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1463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9019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Core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128016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40" y="1463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9019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Cleaning &amp; aggregation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128016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1463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NumPy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9019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Numerical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0040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Matplotlib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221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20040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7764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Seaborn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8221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Statistical visualization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3200400"/>
            <a:ext cx="2651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78BE"/>
                </a:solidFill>
                <a:latin typeface="Aptos"/>
              </a:rPr>
              <a:t>Jupyter Notebook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8221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2323"/>
                </a:solidFill>
                <a:latin typeface="Aptos"/>
              </a:rPr>
              <a:t>Analysis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274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914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3466"/>
                </a:solidFill>
                <a:latin typeface="Aptos"/>
              </a:rPr>
              <a:t>Seasonal Performance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508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Kharif: Yield 5.64 t/ha | Water efficiency 5.89
Rabi: Yield 5.08 t/ha | Water efficiency 5.19
Zaid: Yield 4.67 t/ha | Water efficiency 4.41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051560"/>
            <a:ext cx="4297680" cy="20574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78BE"/>
                </a:solidFill>
                <a:latin typeface="Aptos"/>
              </a:rPr>
              <a:t>Key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Kharif has the highest average yield (5.64 t/ha), while Zaid has the lowest (4.67 t/ha).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3466"/>
                </a:solidFill>
                <a:latin typeface="Aptos"/>
              </a:rPr>
              <a:t>Interpretation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8862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Kharif leads average yield among the three seasons.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Average yield ranges from 4.67 to 5.64 tonnes/ha.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Seasonal conditions are therefore associated with measurable differences in agricultural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09930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274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914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3466"/>
                </a:solidFill>
                <a:latin typeface="Aptos"/>
              </a:rPr>
              <a:t>Production &amp; Economic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1463040"/>
            <a:ext cx="914400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16276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78BE"/>
                </a:solidFill>
                <a:latin typeface="Aptos"/>
              </a:rPr>
              <a:t>Kharif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15727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Production: 82,388 t
Avg Profit: ₹178,915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1572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Avg Revenue: ₹710,719
Farms: 1,779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2560320"/>
            <a:ext cx="914400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27249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78BE"/>
                </a:solidFill>
                <a:latin typeface="Aptos"/>
              </a:rPr>
              <a:t>Rabi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2670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Production: 67,499 t
Avg Profit: ₹87,689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2670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Avg Revenue: ₹601,526
Farms: 1,627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657600"/>
            <a:ext cx="914400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82219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78BE"/>
                </a:solidFill>
                <a:latin typeface="Aptos"/>
              </a:rPr>
              <a:t>Zaid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37673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Production: 23,098 t
Avg Profit: ₹-24,805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37673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Avg Revenue: ₹519,172
Farms: 594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92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3466"/>
                </a:solidFill>
                <a:latin typeface="Aptos"/>
              </a:rPr>
              <a:t>Key finding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303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Kharif has the highest total production (82,388 tonnes)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13949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274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3466"/>
                </a:solidFill>
                <a:latin typeface="Aptos"/>
              </a:rPr>
              <a:t>Regional Yield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1417320"/>
            <a:ext cx="5669280" cy="530352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1536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1. Punjab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15361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232323"/>
                </a:solidFill>
                <a:latin typeface="Aptos"/>
              </a:rPr>
              <a:t>6.12 tonnes/ha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2130552"/>
            <a:ext cx="5669280" cy="530352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2249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2. Karnataka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22494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232323"/>
                </a:solidFill>
                <a:latin typeface="Aptos"/>
              </a:rPr>
              <a:t>5.73 tonnes/ha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2843784"/>
            <a:ext cx="5669280" cy="530352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" y="29626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3. Gujarat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29626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232323"/>
                </a:solidFill>
                <a:latin typeface="Aptos"/>
              </a:rPr>
              <a:t>5.70 tonnes/ha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3557015"/>
            <a:ext cx="5669280" cy="530352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367588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4. Telangana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67588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232323"/>
                </a:solidFill>
                <a:latin typeface="Aptos"/>
              </a:rPr>
              <a:t>5.08 tonnes/ha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270248"/>
            <a:ext cx="5669280" cy="530352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4389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5. 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3891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232323"/>
                </a:solidFill>
                <a:latin typeface="Aptos"/>
              </a:rPr>
              <a:t>5.03 tonnes/ha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1417320"/>
            <a:ext cx="310896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3466"/>
                </a:solidFill>
                <a:latin typeface="Aptos"/>
              </a:rPr>
              <a:t>Observation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22402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Punjab records the highest average yield among states at 6.12 tonnes/ha.
The regional comparison shows that performance is not uniform across locations.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2743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13466"/>
                </a:solidFill>
                <a:latin typeface="Aptos"/>
              </a:rPr>
              <a:t>Relationships with Crop Yield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1417320"/>
            <a:ext cx="557784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1527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78BE"/>
                </a:solidFill>
                <a:latin typeface="Aptos"/>
              </a:rPr>
              <a:t>Water_Efficiency_t_per_1000m3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152704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32323"/>
                </a:solidFill>
                <a:latin typeface="Aptos"/>
              </a:rPr>
              <a:t>r = 0.915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2075688"/>
            <a:ext cx="557784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218541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78BE"/>
                </a:solidFill>
                <a:latin typeface="Aptos"/>
              </a:rPr>
              <a:t>Production_Tonnes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185415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32323"/>
                </a:solidFill>
                <a:latin typeface="Aptos"/>
              </a:rPr>
              <a:t>r = 0.885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734056"/>
            <a:ext cx="557784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28437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78BE"/>
                </a:solidFill>
                <a:latin typeface="Aptos"/>
              </a:rPr>
              <a:t>Profit_INR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2843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32323"/>
                </a:solidFill>
                <a:latin typeface="Aptos"/>
              </a:rPr>
              <a:t>r = 0.490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392424"/>
            <a:ext cx="557784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35021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78BE"/>
                </a:solidFill>
                <a:latin typeface="Aptos"/>
              </a:rPr>
              <a:t>Revenue_INR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5021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32323"/>
                </a:solidFill>
                <a:latin typeface="Aptos"/>
              </a:rPr>
              <a:t>r = 0.434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050791"/>
            <a:ext cx="557784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4160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78BE"/>
                </a:solidFill>
                <a:latin typeface="Aptos"/>
              </a:rPr>
              <a:t>Water_Used_m3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1605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32323"/>
                </a:solidFill>
                <a:latin typeface="Aptos"/>
              </a:rPr>
              <a:t>r = 0.389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20840" y="1417320"/>
            <a:ext cx="338328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516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3466"/>
                </a:solidFill>
                <a:latin typeface="Aptos"/>
              </a:rPr>
              <a:t>Key Finding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2240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323"/>
                </a:solidFill>
                <a:latin typeface="Aptos"/>
              </a:rPr>
              <a:t>Water efficiency has the strongest positive correlation with yield (r = 0.915).
Correlation indicates association,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229193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960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3466"/>
                </a:solidFill>
                <a:latin typeface="Aptos"/>
              </a:rPr>
              <a:t>Total Production by Season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766560" cy="3931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18120" y="1508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Production totals provide a second view of seasonal agricultural output.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Dataset snapshot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Records: 4,000
Variables: 28
Missing cells: 120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960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3466"/>
                </a:solidFill>
                <a:latin typeface="Aptos"/>
              </a:rPr>
              <a:t>Correlation Matrix</a:t>
            </a:r>
          </a:p>
        </p:txBody>
      </p:sp>
      <p:pic>
        <p:nvPicPr>
          <p:cNvPr id="33" name="Picture 32" descr="corr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766560" cy="39319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18120" y="1508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Correlation analysis helps identify relationships among measurable agricultural variables.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78BE"/>
                </a:solidFill>
                <a:latin typeface="Aptos"/>
              </a:rPr>
              <a:t>Dataset snapshot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572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Aptos"/>
              </a:rPr>
              <a:t>Records: 4,000
Variables: 28
Missing cells: 120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FUTURE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143000"/>
            <a:ext cx="9326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Predictive modelling to forecast yield, production and profit for future seasons.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Longitudinal studies to track seasonal changes over multiple years.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Comparative analysis across states, districts and crops.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Resource-efficiency analysis using water, fertilizer and pesticide usage.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• Integrate additional weather, soil and market datasets for richer insights.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189" y="309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13466"/>
                </a:solidFill>
                <a:latin typeface="Aptos"/>
              </a:rPr>
              <a:t>These extensions can support more targeted and evidence-based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13466"/>
                </a:solidFill>
                <a:latin typeface="Aptos"/>
              </a:rPr>
              <a:t>GITHUB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98341" y="2265297"/>
            <a:ext cx="8778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113466"/>
                </a:solidFill>
                <a:latin typeface="Aptos"/>
              </a:rPr>
              <a:t>Project GitHub repository: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320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13466"/>
                </a:solidFill>
                <a:latin typeface="Aptos"/>
              </a:rPr>
              <a:t>VOIS COURSE COMPLETION CERTIFICATE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551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113466"/>
                </a:solidFill>
                <a:latin typeface="Aptos"/>
              </a:rPr>
              <a:t>Course Name: Data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51F636-5001-BF37-3523-A845329A3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752" y="1627934"/>
            <a:ext cx="6187976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18581" y="280531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113466"/>
                </a:solidFill>
                <a:latin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1388</TotalTime>
  <Words>703</Words>
  <Application>Microsoft Office PowerPoint</Application>
  <PresentationFormat>Widescreen</PresentationFormat>
  <Paragraphs>129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Varsha Raja</cp:lastModifiedBy>
  <cp:revision>99</cp:revision>
  <dcterms:created xsi:type="dcterms:W3CDTF">2021-07-11T13:13:15Z</dcterms:created>
  <dcterms:modified xsi:type="dcterms:W3CDTF">2026-09-07T06:18:50Z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